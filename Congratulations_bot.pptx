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61" r:id="rId6"/>
    <p:sldId id="265" r:id="rId7"/>
    <p:sldId id="262" r:id="rId8"/>
    <p:sldId id="269" r:id="rId9"/>
    <p:sldId id="263" r:id="rId10"/>
    <p:sldId id="270" r:id="rId11"/>
    <p:sldId id="264" r:id="rId12"/>
    <p:sldId id="271" r:id="rId13"/>
    <p:sldId id="266" r:id="rId14"/>
    <p:sldId id="267" r:id="rId15"/>
    <p:sldId id="268" r:id="rId16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3838" autoAdjust="0"/>
  </p:normalViewPr>
  <p:slideViewPr>
    <p:cSldViewPr snapToGrid="0" snapToObjects="1">
      <p:cViewPr varScale="1">
        <p:scale>
          <a:sx n="44" d="100"/>
          <a:sy n="44" d="100"/>
        </p:scale>
        <p:origin x="66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4252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Приветствуем жюри! Мы — команда On the VIBE. Сегодня представляем наш проект — умного бота поздравлений в мессенджере MAX на базе GigaChat.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Каждый из нас хоть раз тратил рабочее время на поиск открытки или написание текста. Это реальная проблема корпоративных коммуникаций — рутинная, но важная задача решается неэффективно.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Наше решение — бот в MAX, который за несколько кликов генерирует персональное поздравление с текстом и картинкой через GigaChat и доставляет его в нужный канал.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Архитектура построена на Python, FastAPI и интеграции с MAX Bot API и GigaChat. Всё задеплоено и работает прямо сейчас.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реализовали весь обязательный функционал плюс значительную часть дополнительного — история, расписание, аналитика.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Экономия времени, рост вовлечённости, снижение рутины — эффект от внедрения измерим и значителен.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Покажем как выглядит UX диалога. Кнопки, предпросмотр, перегенерация — всё интуитивно понятно.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Покажем как выглядит UX диалога. Кнопки, предпросмотр, перегенерация — всё интуитивно понятно.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0912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Промпт-инжиниринг — ключ к качеству. Мы тщательно проработали промпты для текста и изображений, чтобы результат всегда соответствовал контексту.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Экономия времени, рост вовлечённости, снижение рутины — эффект от внедрения измерим и значителен.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315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Дополнительные возможности выделяют нас: история, отложенная отправка, аналитика для HR — это реальная ценность для бизнеса.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Экономия времени, рост вовлечённости, снижение рутины — эффект от внедрения измерим и значителен.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4634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 за внимание! Бот уже работает, ссылка на репозиторий и демо — на слайде. Готовы к вопросам.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3F87"/>
          </a:solidFill>
          <a:ln/>
        </p:spPr>
      </p:sp>
      <p:sp>
        <p:nvSpPr>
          <p:cNvPr id="3" name="Shape 1"/>
          <p:cNvSpPr/>
          <p:nvPr/>
        </p:nvSpPr>
        <p:spPr>
          <a:xfrm>
            <a:off x="12954000" y="2190750"/>
            <a:ext cx="5905500" cy="590550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382500" y="2857500"/>
            <a:ext cx="4572000" cy="4572000"/>
          </a:xfrm>
          <a:prstGeom prst="ellipse">
            <a:avLst/>
          </a:prstGeom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49250" y="3524250"/>
            <a:ext cx="3238500" cy="3238500"/>
          </a:xfrm>
          <a:prstGeom prst="ellipse">
            <a:avLst/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0" y="4624983"/>
            <a:ext cx="2667000" cy="10370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3262461"/>
            <a:ext cx="535145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КЕЙС №3 · ХАКАТОН MAX · 2025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43000" y="3805386"/>
            <a:ext cx="9001363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Бот поздравлений</a:t>
            </a:r>
            <a:endParaRPr lang="en-US" sz="6600" dirty="0"/>
          </a:p>
        </p:txBody>
      </p:sp>
      <p:sp>
        <p:nvSpPr>
          <p:cNvPr id="9" name="Text 6"/>
          <p:cNvSpPr/>
          <p:nvPr/>
        </p:nvSpPr>
        <p:spPr>
          <a:xfrm>
            <a:off x="1143000" y="4875907"/>
            <a:ext cx="5690235" cy="1100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Умный бот в мессенджере MAX, который генерирует персональные поздравления с текстом и открыткой через GigaChat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43000" y="6510040"/>
            <a:ext cx="2581424" cy="51435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62075" y="6614815"/>
            <a:ext cx="222071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💬 MAX Messenger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3838724" y="6510040"/>
            <a:ext cx="2267843" cy="51435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57799" y="6614815"/>
            <a:ext cx="190589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 err="1" smtClean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GigaChat</a:t>
            </a:r>
            <a:r>
              <a:rPr lang="en-US" sz="1800" b="1" dirty="0" smtClean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API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220867" y="6510040"/>
            <a:ext cx="2280642" cy="51435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39942" y="6614815"/>
            <a:ext cx="191869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🎨 AI-генерация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8615809" y="6510040"/>
            <a:ext cx="3095179" cy="51435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834884" y="6614815"/>
            <a:ext cx="274988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📬 Мультиканальность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95300" y="9629775"/>
            <a:ext cx="170095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</a:t>
            </a:r>
            <a:r>
              <a:rPr lang="en-US" sz="1800" b="1" kern="0" spc="10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9629775"/>
            <a:ext cx="170095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</a:t>
            </a:r>
            <a:r>
              <a:rPr lang="en-US" sz="1800" b="1" kern="0" spc="108" dirty="0">
                <a:solidFill>
                  <a:srgbClr val="003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143000" y="1972717"/>
            <a:ext cx="16002000" cy="400050"/>
          </a:xfrm>
          <a:prstGeom prst="roundRect">
            <a:avLst>
              <a:gd name="adj" fmla="val 50000"/>
            </a:avLst>
          </a:prstGeom>
          <a:solidFill>
            <a:srgbClr val="E6F4EE"/>
          </a:solidFill>
          <a:ln w="9525">
            <a:solidFill>
              <a:srgbClr val="00864E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23975" y="2039392"/>
            <a:ext cx="161201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00864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ПРОБЛЕМА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2563267"/>
            <a:ext cx="16482060" cy="1253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Корпоративные поздравления </a:t>
            </a:r>
            <a:r>
              <a:rPr lang="en-US" sz="4350" b="1" dirty="0">
                <a:solidFill>
                  <a:srgbClr val="003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рутина, отнимающая время</a:t>
            </a:r>
            <a:endParaRPr lang="en-US" sz="4350" dirty="0"/>
          </a:p>
        </p:txBody>
      </p:sp>
      <p:sp>
        <p:nvSpPr>
          <p:cNvPr id="6" name="Shape 4"/>
          <p:cNvSpPr/>
          <p:nvPr/>
        </p:nvSpPr>
        <p:spPr>
          <a:xfrm>
            <a:off x="1143000" y="4235797"/>
            <a:ext cx="5181600" cy="2706737"/>
          </a:xfrm>
          <a:prstGeom prst="roundRect">
            <a:avLst>
              <a:gd name="adj" fmla="val 7038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blurRad="114300" dist="19050" dir="5400000" algn="bl" rotWithShape="0">
              <a:srgbClr val="003F87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38275" y="4911851"/>
            <a:ext cx="4863275" cy="629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3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Потеря рабочего времени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9225" y="5531197"/>
            <a:ext cx="4768025" cy="1135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Сотрудники тратят минуты и часы на поиск подходящей картинки и написание текста вместо работы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53200" y="4235797"/>
            <a:ext cx="5181600" cy="2706737"/>
          </a:xfrm>
          <a:prstGeom prst="roundRect">
            <a:avLst>
              <a:gd name="adj" fmla="val 7038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blurRad="114300" dist="19050" dir="5400000" algn="bl" rotWithShape="0">
              <a:srgbClr val="003F87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59987" y="4902776"/>
            <a:ext cx="47680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3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Шаблонность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29425" y="5531197"/>
            <a:ext cx="4768025" cy="1135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Поздравления повторяются, выглядят безлично и не учитывают контекст получателя или стиль команды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011025" y="4252398"/>
            <a:ext cx="5181600" cy="2706737"/>
          </a:xfrm>
          <a:prstGeom prst="roundRect">
            <a:avLst>
              <a:gd name="adj" fmla="val 7038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blurRad="114300" dist="19050" dir="5400000" algn="bl" rotWithShape="0">
              <a:srgbClr val="003F87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2239625" y="4912852"/>
            <a:ext cx="47680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3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единого инструмента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239625" y="5531197"/>
            <a:ext cx="4768025" cy="1135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Рассылки ведутся вручную через разные каналы: почта, Telegram, мессенджер — без единого места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43000" y="7285434"/>
            <a:ext cx="16002000" cy="1028700"/>
          </a:xfrm>
          <a:prstGeom prst="roundRect">
            <a:avLst>
              <a:gd name="adj" fmla="val 14815"/>
            </a:avLst>
          </a:prstGeom>
          <a:solidFill>
            <a:srgbClr val="E8EFF9"/>
          </a:solidFill>
          <a:ln w="9525">
            <a:solidFill>
              <a:srgbClr val="003F87">
                <a:alpha val="2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57325" y="7523559"/>
            <a:ext cx="1998762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3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 мин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3570387" y="7628334"/>
            <a:ext cx="1289408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тратит сотрудник на создание одного поздравления вручную — а в крупной компании таких событий десятки в месяц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946910" y="9629775"/>
            <a:ext cx="9219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03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13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9629775"/>
            <a:ext cx="170095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</a:t>
            </a:r>
            <a:r>
              <a:rPr lang="en-US" sz="1800" b="1" kern="0" spc="108" dirty="0">
                <a:solidFill>
                  <a:srgbClr val="003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143000" y="1554510"/>
            <a:ext cx="16002000" cy="400050"/>
          </a:xfrm>
          <a:prstGeom prst="roundRect">
            <a:avLst>
              <a:gd name="adj" fmla="val 50000"/>
            </a:avLst>
          </a:prstGeom>
          <a:solidFill>
            <a:srgbClr val="E8EFF9"/>
          </a:solidFill>
          <a:ln w="9525">
            <a:solidFill>
              <a:srgbClr val="003F87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23975" y="1621185"/>
            <a:ext cx="161201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003F8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РЕШЕНИЕ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2145060"/>
            <a:ext cx="16482060" cy="1253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Умный бот в MAX </a:t>
            </a:r>
            <a:r>
              <a:rPr lang="en-US" sz="4350" b="1" dirty="0">
                <a:solidFill>
                  <a:srgbClr val="0086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3 клика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1143000" y="3817590"/>
            <a:ext cx="8084058" cy="1169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Бот </a:t>
            </a:r>
            <a:r>
              <a:rPr lang="en-US" sz="1800" b="1" dirty="0">
                <a:solidFill>
                  <a:srgbClr val="11182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проводит пользователя через диалог </a:t>
            </a:r>
            <a:r>
              <a:rPr lang="en-US" sz="180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, генерирует уникальный текст и открытку через GigaChat и </a:t>
            </a:r>
            <a:r>
              <a:rPr lang="en-US" sz="1800" b="1" dirty="0">
                <a:solidFill>
                  <a:srgbClr val="11182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доставляет поздравление </a:t>
            </a:r>
            <a:r>
              <a:rPr lang="en-US" sz="180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в нужный канал — без лишних действий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43000" y="5253782"/>
            <a:ext cx="2119461" cy="438150"/>
          </a:xfrm>
          <a:prstGeom prst="roundRect">
            <a:avLst>
              <a:gd name="adj" fmla="val 50000"/>
            </a:avLst>
          </a:prstGeom>
          <a:solidFill>
            <a:srgbClr val="E6F4EE"/>
          </a:solidFill>
          <a:ln w="9525">
            <a:solidFill>
              <a:srgbClr val="00864E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3975" y="5339507"/>
            <a:ext cx="183371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864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День рождения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57711" y="5253782"/>
            <a:ext cx="1580406" cy="438150"/>
          </a:xfrm>
          <a:prstGeom prst="roundRect">
            <a:avLst>
              <a:gd name="adj" fmla="val 50000"/>
            </a:avLst>
          </a:prstGeom>
          <a:solidFill>
            <a:srgbClr val="E6F4EE"/>
          </a:solidFill>
          <a:ln w="9525">
            <a:solidFill>
              <a:srgbClr val="00864E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38686" y="5339507"/>
            <a:ext cx="129465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864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Новый год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33367" y="5253782"/>
            <a:ext cx="2739926" cy="438150"/>
          </a:xfrm>
          <a:prstGeom prst="roundRect">
            <a:avLst>
              <a:gd name="adj" fmla="val 50000"/>
            </a:avLst>
          </a:prstGeom>
          <a:solidFill>
            <a:srgbClr val="E6F4EE"/>
          </a:solidFill>
          <a:ln w="9525">
            <a:solidFill>
              <a:srgbClr val="00864E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4342" y="5339507"/>
            <a:ext cx="246017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864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8 марта / 23 февраля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43000" y="5787182"/>
            <a:ext cx="2621161" cy="438150"/>
          </a:xfrm>
          <a:prstGeom prst="roundRect">
            <a:avLst>
              <a:gd name="adj" fmla="val 50000"/>
            </a:avLst>
          </a:prstGeom>
          <a:solidFill>
            <a:srgbClr val="E6F4EE"/>
          </a:solidFill>
          <a:ln w="9525">
            <a:solidFill>
              <a:srgbClr val="00864E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3975" y="5872907"/>
            <a:ext cx="23378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864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День программиста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859411" y="5787182"/>
            <a:ext cx="2093714" cy="438150"/>
          </a:xfrm>
          <a:prstGeom prst="roundRect">
            <a:avLst>
              <a:gd name="adj" fmla="val 50000"/>
            </a:avLst>
          </a:prstGeom>
          <a:solidFill>
            <a:srgbClr val="E6F4EE"/>
          </a:solidFill>
          <a:ln w="9525">
            <a:solidFill>
              <a:srgbClr val="00864E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40386" y="5872907"/>
            <a:ext cx="18079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864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Благодарность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296400" y="3817590"/>
            <a:ext cx="7848600" cy="1247775"/>
          </a:xfrm>
          <a:prstGeom prst="roundRect">
            <a:avLst>
              <a:gd name="adj" fmla="val 12214"/>
            </a:avLst>
          </a:prstGeom>
          <a:solidFill>
            <a:srgbClr val="F4F6FA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34525" y="4265265"/>
            <a:ext cx="44246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1182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✍️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053191" y="4017615"/>
            <a:ext cx="705929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Генерация текста через GigaChat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53191" y="4331940"/>
            <a:ext cx="705929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Уникальный текст по выбранному поводу и стилю (официальный, с юмором, дружеский…)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296400" y="5217765"/>
            <a:ext cx="7848600" cy="981075"/>
          </a:xfrm>
          <a:prstGeom prst="roundRect">
            <a:avLst>
              <a:gd name="adj" fmla="val 15534"/>
            </a:avLst>
          </a:prstGeom>
          <a:solidFill>
            <a:srgbClr val="F4F6FA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34525" y="5532090"/>
            <a:ext cx="44246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1182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🎨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0053191" y="5417790"/>
            <a:ext cx="620637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AI-открытка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53191" y="5732115"/>
            <a:ext cx="62063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Генерация изображения под стиль и повод прямо в боте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296400" y="6351240"/>
            <a:ext cx="7848600" cy="981075"/>
          </a:xfrm>
          <a:prstGeom prst="roundRect">
            <a:avLst>
              <a:gd name="adj" fmla="val 15534"/>
            </a:avLst>
          </a:prstGeom>
          <a:solidFill>
            <a:srgbClr val="F4F6FA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34525" y="6665565"/>
            <a:ext cx="44246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1182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📬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0053191" y="6551265"/>
            <a:ext cx="628378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Мультиканальная отправка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053191" y="6865590"/>
            <a:ext cx="628378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MAX, email и другие мессенджеры из одного интерфейса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296400" y="7484715"/>
            <a:ext cx="7848600" cy="1247775"/>
          </a:xfrm>
          <a:prstGeom prst="roundRect">
            <a:avLst>
              <a:gd name="adj" fmla="val 12214"/>
            </a:avLst>
          </a:prstGeom>
          <a:solidFill>
            <a:srgbClr val="F4F6FA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34525" y="7932390"/>
            <a:ext cx="44246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1182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🔄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0053191" y="7684740"/>
            <a:ext cx="705929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Предпросмотр и перегенерация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053191" y="7999065"/>
            <a:ext cx="705929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Не понравился результат — один клик и получите новый вариант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6948845" y="9629775"/>
            <a:ext cx="9200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03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13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9629775"/>
            <a:ext cx="170095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</a:t>
            </a:r>
            <a:r>
              <a:rPr lang="en-US" sz="1800" b="1" kern="0" spc="108" dirty="0">
                <a:solidFill>
                  <a:srgbClr val="003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52500" y="2786063"/>
            <a:ext cx="16383000" cy="400050"/>
          </a:xfrm>
          <a:prstGeom prst="roundRect">
            <a:avLst>
              <a:gd name="adj" fmla="val 50000"/>
            </a:avLst>
          </a:prstGeom>
          <a:solidFill>
            <a:srgbClr val="E8EFF9"/>
          </a:solidFill>
          <a:ln w="9525">
            <a:solidFill>
              <a:srgbClr val="1A5FAD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3475" y="2852738"/>
            <a:ext cx="165125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A5FA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АРХИТЕКТУРА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3376613"/>
            <a:ext cx="1687449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Система, которая </a:t>
            </a:r>
            <a:r>
              <a:rPr lang="en-US" sz="4050" b="1" dirty="0">
                <a:solidFill>
                  <a:srgbClr val="003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масштабируется</a:t>
            </a:r>
            <a:endParaRPr lang="en-US" sz="4050" dirty="0"/>
          </a:p>
        </p:txBody>
      </p:sp>
      <p:sp>
        <p:nvSpPr>
          <p:cNvPr id="50" name="Text 48"/>
          <p:cNvSpPr/>
          <p:nvPr/>
        </p:nvSpPr>
        <p:spPr>
          <a:xfrm>
            <a:off x="16946166" y="9629775"/>
            <a:ext cx="92273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03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13</a:t>
            </a:r>
            <a:endParaRPr lang="en-US" sz="1800" dirty="0"/>
          </a:p>
        </p:txBody>
      </p:sp>
      <p:pic>
        <p:nvPicPr>
          <p:cNvPr id="51" name="Рисунок 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997" y="4447393"/>
            <a:ext cx="14590848" cy="39186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9629775"/>
            <a:ext cx="170095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</a:t>
            </a:r>
            <a:r>
              <a:rPr lang="en-US" sz="1800" b="1" kern="0" spc="108" dirty="0">
                <a:solidFill>
                  <a:srgbClr val="003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52500" y="2605088"/>
            <a:ext cx="16383000" cy="400050"/>
          </a:xfrm>
          <a:prstGeom prst="roundRect">
            <a:avLst>
              <a:gd name="adj" fmla="val 50000"/>
            </a:avLst>
          </a:prstGeom>
          <a:solidFill>
            <a:srgbClr val="E8EFF9"/>
          </a:solidFill>
          <a:ln w="9525">
            <a:solidFill>
              <a:srgbClr val="003F87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3475" y="2671763"/>
            <a:ext cx="165125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003F8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ФУНКЦИОНАЛЬНЫЕ ТРЕБОВАНИЯ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3195638"/>
            <a:ext cx="1687449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</a:t>
            </a:r>
            <a:r>
              <a:rPr lang="en-US" sz="4050" b="1" dirty="0">
                <a:solidFill>
                  <a:srgbClr val="0086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реализовано</a:t>
            </a:r>
            <a:endParaRPr lang="en-US" sz="4050" dirty="0"/>
          </a:p>
        </p:txBody>
      </p:sp>
      <p:sp>
        <p:nvSpPr>
          <p:cNvPr id="6" name="Shape 4"/>
          <p:cNvSpPr/>
          <p:nvPr/>
        </p:nvSpPr>
        <p:spPr>
          <a:xfrm>
            <a:off x="952500" y="4624388"/>
            <a:ext cx="8039100" cy="952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4205288"/>
            <a:ext cx="828027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ОБЯЗАТЕЛЬНЫЙ ФУНКЦИОНАЛ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" y="4833938"/>
            <a:ext cx="304800" cy="304800"/>
          </a:xfrm>
          <a:prstGeom prst="ellipse">
            <a:avLst/>
          </a:prstGeom>
          <a:solidFill>
            <a:srgbClr val="E6F4EE"/>
          </a:solidFill>
          <a:ln w="9525">
            <a:solidFill>
              <a:srgbClr val="00864E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3925" y="4843463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0864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4824413"/>
            <a:ext cx="719955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Бот в мессенджере MAX 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52500" y="5310188"/>
            <a:ext cx="304800" cy="304800"/>
          </a:xfrm>
          <a:prstGeom prst="ellipse">
            <a:avLst/>
          </a:prstGeom>
          <a:solidFill>
            <a:srgbClr val="E6F4EE"/>
          </a:solidFill>
          <a:ln w="9525">
            <a:solidFill>
              <a:srgbClr val="00864E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925" y="5319713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0864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5300663"/>
            <a:ext cx="658504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Выбор повода и </a:t>
            </a:r>
            <a:r>
              <a:rPr lang="en-US" sz="1800" b="1" dirty="0" err="1" smtClean="0">
                <a:solidFill>
                  <a:srgbClr val="11182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стиля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2500" y="5786438"/>
            <a:ext cx="304800" cy="304800"/>
          </a:xfrm>
          <a:prstGeom prst="ellipse">
            <a:avLst/>
          </a:prstGeom>
          <a:solidFill>
            <a:srgbClr val="E6F4EE"/>
          </a:solidFill>
          <a:ln w="9525">
            <a:solidFill>
              <a:srgbClr val="00864E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6993" y="5795963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0864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5776913"/>
            <a:ext cx="744485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Генерация </a:t>
            </a:r>
            <a:r>
              <a:rPr lang="en-US" sz="1800" b="1" dirty="0" err="1">
                <a:solidFill>
                  <a:srgbClr val="11182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текста</a:t>
            </a:r>
            <a:r>
              <a:rPr lang="en-US" sz="1800" b="1" dirty="0">
                <a:solidFill>
                  <a:srgbClr val="11182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060086" y="4860133"/>
            <a:ext cx="304800" cy="304800"/>
          </a:xfrm>
          <a:prstGeom prst="ellipse">
            <a:avLst/>
          </a:prstGeom>
          <a:solidFill>
            <a:srgbClr val="E6F4EE"/>
          </a:solidFill>
          <a:ln w="9525">
            <a:solidFill>
              <a:srgbClr val="00864E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31511" y="4869658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0864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479185" y="4850607"/>
            <a:ext cx="6680579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 err="1">
                <a:solidFill>
                  <a:srgbClr val="11182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Генерация</a:t>
            </a:r>
            <a:r>
              <a:rPr lang="en-US" sz="1800" b="1" dirty="0">
                <a:solidFill>
                  <a:srgbClr val="11182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r>
              <a:rPr lang="en-US" sz="1800" b="1" dirty="0" err="1" smtClean="0">
                <a:solidFill>
                  <a:srgbClr val="11182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открытки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060086" y="5336383"/>
            <a:ext cx="304800" cy="304800"/>
          </a:xfrm>
          <a:prstGeom prst="ellipse">
            <a:avLst/>
          </a:prstGeom>
          <a:solidFill>
            <a:srgbClr val="E6F4EE"/>
          </a:solidFill>
          <a:ln w="9525">
            <a:solidFill>
              <a:srgbClr val="00864E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31511" y="5345908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0864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534971" y="5310188"/>
            <a:ext cx="786765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Предпросмотр + </a:t>
            </a:r>
            <a:r>
              <a:rPr lang="en-US" sz="1800" b="1" dirty="0" err="1" smtClean="0">
                <a:solidFill>
                  <a:srgbClr val="11182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перегенерация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060086" y="5812633"/>
            <a:ext cx="304800" cy="304800"/>
          </a:xfrm>
          <a:prstGeom prst="ellipse">
            <a:avLst/>
          </a:prstGeom>
          <a:solidFill>
            <a:srgbClr val="E6F4EE"/>
          </a:solidFill>
          <a:ln w="9525">
            <a:solidFill>
              <a:srgbClr val="00864E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31511" y="5822158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0864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479186" y="5803107"/>
            <a:ext cx="5029200" cy="5619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Отправка </a:t>
            </a:r>
            <a:r>
              <a:rPr lang="en-US" sz="180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в MAX и на email (2 канала)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6936343" y="9629775"/>
            <a:ext cx="93255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03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13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52500" y="116681"/>
            <a:ext cx="16383000" cy="400050"/>
          </a:xfrm>
          <a:prstGeom prst="roundRect">
            <a:avLst>
              <a:gd name="adj" fmla="val 50000"/>
            </a:avLst>
          </a:prstGeom>
          <a:solidFill>
            <a:srgbClr val="E6F4EE"/>
          </a:solidFill>
          <a:ln w="9525">
            <a:solidFill>
              <a:srgbClr val="00864E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3475" y="183356"/>
            <a:ext cx="165125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00864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UX · ДЕМО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631031"/>
            <a:ext cx="1687449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Диалог, который </a:t>
            </a:r>
            <a:r>
              <a:rPr lang="en-US" sz="3300" b="1" dirty="0">
                <a:solidFill>
                  <a:srgbClr val="003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требует инструкции</a:t>
            </a:r>
            <a:endParaRPr lang="en-US" sz="3300" dirty="0"/>
          </a:p>
        </p:txBody>
      </p:sp>
      <p:sp>
        <p:nvSpPr>
          <p:cNvPr id="49" name="Text 47"/>
          <p:cNvSpPr/>
          <p:nvPr/>
        </p:nvSpPr>
        <p:spPr>
          <a:xfrm>
            <a:off x="16992600" y="9629775"/>
            <a:ext cx="8763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03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13</a:t>
            </a:r>
            <a:endParaRPr lang="en-US" sz="1800" dirty="0"/>
          </a:p>
        </p:txBody>
      </p:sp>
      <p:pic>
        <p:nvPicPr>
          <p:cNvPr id="50" name="Рисунок 4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55" b="17051"/>
          <a:stretch/>
        </p:blipFill>
        <p:spPr>
          <a:xfrm>
            <a:off x="133634" y="1325325"/>
            <a:ext cx="4644152" cy="7844940"/>
          </a:xfrm>
          <a:prstGeom prst="rect">
            <a:avLst/>
          </a:prstGeom>
        </p:spPr>
      </p:pic>
      <p:pic>
        <p:nvPicPr>
          <p:cNvPr id="51" name="Рисунок 50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41" r="7134" b="9634"/>
          <a:stretch/>
        </p:blipFill>
        <p:spPr>
          <a:xfrm>
            <a:off x="4899405" y="1325325"/>
            <a:ext cx="4312834" cy="8461612"/>
          </a:xfrm>
          <a:prstGeom prst="rect">
            <a:avLst/>
          </a:prstGeom>
        </p:spPr>
      </p:pic>
      <p:pic>
        <p:nvPicPr>
          <p:cNvPr id="52" name="Рисунок 51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18" r="6817" b="12193"/>
          <a:stretch/>
        </p:blipFill>
        <p:spPr>
          <a:xfrm>
            <a:off x="9389745" y="1325325"/>
            <a:ext cx="4327551" cy="8256895"/>
          </a:xfrm>
          <a:prstGeom prst="rect">
            <a:avLst/>
          </a:prstGeom>
        </p:spPr>
      </p:pic>
      <p:pic>
        <p:nvPicPr>
          <p:cNvPr id="53" name="Рисунок 52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43" r="7167" b="9455"/>
          <a:stretch/>
        </p:blipFill>
        <p:spPr>
          <a:xfrm>
            <a:off x="13894802" y="1237075"/>
            <a:ext cx="4311311" cy="85498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9629775"/>
            <a:ext cx="170095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</a:t>
            </a:r>
            <a:r>
              <a:rPr lang="en-US" sz="1800" b="1" kern="0" spc="108" dirty="0">
                <a:solidFill>
                  <a:srgbClr val="003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52500" y="929878"/>
            <a:ext cx="16383000" cy="400050"/>
          </a:xfrm>
          <a:prstGeom prst="roundRect">
            <a:avLst>
              <a:gd name="adj" fmla="val 50000"/>
            </a:avLst>
          </a:prstGeom>
          <a:solidFill>
            <a:srgbClr val="FDF3DC"/>
          </a:solidFill>
          <a:ln w="9525">
            <a:solidFill>
              <a:srgbClr val="C8860A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3475" y="996553"/>
            <a:ext cx="165125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C886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ДОПОЛНИТЕЛЬНЫЕ ВОЗМОЖНОСТИ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1724390"/>
            <a:ext cx="1687449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Больше, чем </a:t>
            </a:r>
            <a:r>
              <a:rPr lang="en-US" sz="4050" b="1" dirty="0">
                <a:solidFill>
                  <a:srgbClr val="C88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требовалось</a:t>
            </a:r>
            <a:endParaRPr lang="en-US" sz="4050" dirty="0"/>
          </a:p>
        </p:txBody>
      </p:sp>
      <p:sp>
        <p:nvSpPr>
          <p:cNvPr id="6" name="Shape 4"/>
          <p:cNvSpPr/>
          <p:nvPr/>
        </p:nvSpPr>
        <p:spPr>
          <a:xfrm>
            <a:off x="718839" y="2627190"/>
            <a:ext cx="5321201" cy="3472458"/>
          </a:xfrm>
          <a:prstGeom prst="roundRect">
            <a:avLst>
              <a:gd name="adj" fmla="val 5486"/>
            </a:avLst>
          </a:prstGeom>
          <a:solidFill>
            <a:srgbClr val="F4F6FA"/>
          </a:solidFill>
          <a:ln w="9525">
            <a:solidFill>
              <a:srgbClr val="DDE3EE"/>
            </a:solidFill>
            <a:prstDash val="solid"/>
          </a:ln>
          <a:effectLst>
            <a:outerShdw blurRad="76200" dist="19050" dir="5400000" algn="bl" rotWithShape="0">
              <a:srgbClr val="003F87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57193" y="2934890"/>
            <a:ext cx="491181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поздравлений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57193" y="3352053"/>
            <a:ext cx="4911813" cy="17776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Пользователь видит все отправленные поздравления с датой, получателем и каналом. Можно переиспользовать или повторить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28725" y="5402461"/>
            <a:ext cx="2150715" cy="361950"/>
          </a:xfrm>
          <a:prstGeom prst="roundRect">
            <a:avLst>
              <a:gd name="adj" fmla="val 50000"/>
            </a:avLst>
          </a:prstGeom>
          <a:solidFill>
            <a:srgbClr val="E6F4EE"/>
          </a:solidFill>
          <a:ln w="9525">
            <a:solidFill>
              <a:srgbClr val="00864E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14449" y="5398740"/>
            <a:ext cx="19792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00864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РЕАЛИЗОВАНО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6941850" y="9629775"/>
            <a:ext cx="9270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03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13</a:t>
            </a:r>
            <a:endParaRPr lang="en-US" sz="1800" dirty="0"/>
          </a:p>
        </p:txBody>
      </p:sp>
      <p:pic>
        <p:nvPicPr>
          <p:cNvPr id="47" name="Рисунок 4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885" t="31178" r="4885" b="21061"/>
          <a:stretch/>
        </p:blipFill>
        <p:spPr>
          <a:xfrm>
            <a:off x="8270402" y="2492648"/>
            <a:ext cx="4749701" cy="4913195"/>
          </a:xfrm>
          <a:prstGeom prst="rect">
            <a:avLst/>
          </a:prstGeom>
        </p:spPr>
      </p:pic>
      <p:cxnSp>
        <p:nvCxnSpPr>
          <p:cNvPr id="50" name="Прямая со стрелкой 49"/>
          <p:cNvCxnSpPr>
            <a:stCxn id="6" idx="3"/>
          </p:cNvCxnSpPr>
          <p:nvPr/>
        </p:nvCxnSpPr>
        <p:spPr>
          <a:xfrm>
            <a:off x="6040040" y="4363419"/>
            <a:ext cx="2353333" cy="26788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9629775"/>
            <a:ext cx="170095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</a:t>
            </a:r>
            <a:r>
              <a:rPr lang="en-US" sz="1800" b="1" kern="0" spc="108" dirty="0">
                <a:solidFill>
                  <a:srgbClr val="003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52500" y="929878"/>
            <a:ext cx="16383000" cy="400050"/>
          </a:xfrm>
          <a:prstGeom prst="roundRect">
            <a:avLst>
              <a:gd name="adj" fmla="val 50000"/>
            </a:avLst>
          </a:prstGeom>
          <a:solidFill>
            <a:srgbClr val="FDF3DC"/>
          </a:solidFill>
          <a:ln w="9525">
            <a:solidFill>
              <a:srgbClr val="C8860A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3475" y="996553"/>
            <a:ext cx="165125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C8860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ДОПОЛНИТЕЛЬНЫЕ ВОЗМОЖНОСТИ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33475" y="1703287"/>
            <a:ext cx="1687449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Больше, чем </a:t>
            </a:r>
            <a:r>
              <a:rPr lang="en-US" sz="4050" b="1" dirty="0">
                <a:solidFill>
                  <a:srgbClr val="C88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требовалось</a:t>
            </a:r>
            <a:endParaRPr lang="en-US" sz="4050" dirty="0"/>
          </a:p>
        </p:txBody>
      </p:sp>
      <p:grpSp>
        <p:nvGrpSpPr>
          <p:cNvPr id="7" name="Группа 6"/>
          <p:cNvGrpSpPr/>
          <p:nvPr/>
        </p:nvGrpSpPr>
        <p:grpSpPr>
          <a:xfrm>
            <a:off x="1028742" y="2743396"/>
            <a:ext cx="6873311" cy="3472458"/>
            <a:chOff x="6350093" y="2719174"/>
            <a:chExt cx="5321350" cy="3472458"/>
          </a:xfrm>
        </p:grpSpPr>
        <p:sp>
          <p:nvSpPr>
            <p:cNvPr id="12" name="Shape 10"/>
            <p:cNvSpPr/>
            <p:nvPr/>
          </p:nvSpPr>
          <p:spPr>
            <a:xfrm>
              <a:off x="6350093" y="2719174"/>
              <a:ext cx="5321350" cy="3472458"/>
            </a:xfrm>
            <a:prstGeom prst="roundRect">
              <a:avLst>
                <a:gd name="adj" fmla="val 5486"/>
              </a:avLst>
            </a:prstGeom>
            <a:solidFill>
              <a:srgbClr val="F4F6FA"/>
            </a:solidFill>
            <a:ln w="9525">
              <a:solidFill>
                <a:srgbClr val="DDE3EE"/>
              </a:solidFill>
              <a:prstDash val="solid"/>
            </a:ln>
            <a:effectLst>
              <a:outerShdw blurRad="76200" dist="19050" dir="5400000" algn="bl" rotWithShape="0">
                <a:srgbClr val="003F87">
                  <a:alpha val="5000"/>
                </a:srgbClr>
              </a:outerShdw>
            </a:effectLst>
          </p:spPr>
        </p:sp>
        <p:sp>
          <p:nvSpPr>
            <p:cNvPr id="14" name="Text 12"/>
            <p:cNvSpPr/>
            <p:nvPr/>
          </p:nvSpPr>
          <p:spPr>
            <a:xfrm>
              <a:off x="6759476" y="2934890"/>
              <a:ext cx="4911967" cy="3143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11182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Отложенная отправка</a:t>
              </a:r>
              <a:endParaRPr lang="en-US" sz="18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6707038" y="3417449"/>
              <a:ext cx="4911967" cy="150078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60000"/>
                </a:lnSpc>
                <a:buNone/>
              </a:pPr>
              <a:r>
                <a:rPr lang="en-US" sz="1800" dirty="0">
                  <a:solidFill>
                    <a:srgbClr val="6B7280"/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Запланировать поздравление на конкретную дату и время. Бот отправит автоматически — идеально для дней рождения</a:t>
              </a:r>
              <a:endParaRPr lang="en-US" sz="18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6759476" y="5402461"/>
              <a:ext cx="2150715" cy="361950"/>
            </a:xfrm>
            <a:prstGeom prst="roundRect">
              <a:avLst>
                <a:gd name="adj" fmla="val 50000"/>
              </a:avLst>
            </a:prstGeom>
            <a:solidFill>
              <a:srgbClr val="E6F4EE"/>
            </a:solidFill>
            <a:ln w="9525">
              <a:solidFill>
                <a:srgbClr val="00864E">
                  <a:alpha val="30000"/>
                </a:srgbClr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6883301" y="5450086"/>
              <a:ext cx="1979265" cy="3048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800" b="1" kern="0" spc="90" dirty="0">
                  <a:solidFill>
                    <a:srgbClr val="00864E"/>
                  </a:solidFill>
                  <a:latin typeface="-apple-system" pitchFamily="34" charset="0"/>
                  <a:ea typeface="-apple-system" pitchFamily="34" charset="-122"/>
                  <a:cs typeface="-apple-system" pitchFamily="34" charset="-120"/>
                </a:rPr>
                <a:t>РЕАЛИЗОВАНО</a:t>
              </a:r>
              <a:endParaRPr lang="en-US" sz="1800" dirty="0"/>
            </a:p>
          </p:txBody>
        </p:sp>
      </p:grpSp>
      <p:sp>
        <p:nvSpPr>
          <p:cNvPr id="42" name="Text 40"/>
          <p:cNvSpPr/>
          <p:nvPr/>
        </p:nvSpPr>
        <p:spPr>
          <a:xfrm>
            <a:off x="16941850" y="9629775"/>
            <a:ext cx="9270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03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13</a:t>
            </a:r>
            <a:endParaRPr lang="en-US" sz="1800" dirty="0"/>
          </a:p>
        </p:txBody>
      </p:sp>
      <p:pic>
        <p:nvPicPr>
          <p:cNvPr id="44" name="Рисунок 4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66" b="3481"/>
          <a:stretch/>
        </p:blipFill>
        <p:spPr>
          <a:xfrm>
            <a:off x="8477817" y="1703287"/>
            <a:ext cx="4639437" cy="8434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31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9629775"/>
            <a:ext cx="170095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</a:t>
            </a:r>
            <a:r>
              <a:rPr lang="en-US" sz="1800" b="1" kern="0" spc="108" dirty="0">
                <a:solidFill>
                  <a:srgbClr val="003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52500" y="2045196"/>
            <a:ext cx="16383000" cy="400050"/>
          </a:xfrm>
          <a:prstGeom prst="roundRect">
            <a:avLst>
              <a:gd name="adj" fmla="val 50000"/>
            </a:avLst>
          </a:prstGeom>
          <a:solidFill>
            <a:srgbClr val="E8EFF9"/>
          </a:solidFill>
          <a:ln w="9525">
            <a:solidFill>
              <a:srgbClr val="1A5FAD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3475" y="2111871"/>
            <a:ext cx="165125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A5FA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СВЕРХ ТРЕБОВАНИЙ · УМНЫЙ UX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2597646"/>
            <a:ext cx="1687449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more thing! Бот </a:t>
            </a:r>
            <a:r>
              <a:rPr lang="en-US" sz="3900" b="1" dirty="0">
                <a:solidFill>
                  <a:srgbClr val="003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думает за пользователя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52500" y="3462337"/>
            <a:ext cx="6557665" cy="4701183"/>
          </a:xfrm>
          <a:prstGeom prst="roundRect">
            <a:avLst>
              <a:gd name="adj" fmla="val 4863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blurRad="114300" dist="19050" dir="5400000" algn="bl" rotWithShape="0">
              <a:srgbClr val="003F87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28725" y="3988296"/>
            <a:ext cx="618537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Умный выбор повода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28725" y="4388346"/>
            <a:ext cx="6185371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Бот сам подсказывает актуальные поводы — не нужно ничего искать или придумывать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228725" y="5363468"/>
            <a:ext cx="95250" cy="95250"/>
          </a:xfrm>
          <a:prstGeom prst="ellipse">
            <a:avLst/>
          </a:prstGeom>
          <a:solidFill>
            <a:srgbClr val="003F87"/>
          </a:solidFill>
          <a:ln/>
        </p:spPr>
      </p:sp>
      <p:sp>
        <p:nvSpPr>
          <p:cNvPr id="10" name="Text 8"/>
          <p:cNvSpPr/>
          <p:nvPr/>
        </p:nvSpPr>
        <p:spPr>
          <a:xfrm>
            <a:off x="1438275" y="5287268"/>
            <a:ext cx="596953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Ближайшие праздники из календаря — автоматически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28725" y="6163568"/>
            <a:ext cx="95250" cy="95250"/>
          </a:xfrm>
          <a:prstGeom prst="ellipse">
            <a:avLst/>
          </a:prstGeom>
          <a:solidFill>
            <a:srgbClr val="00864E"/>
          </a:solidFill>
          <a:ln/>
        </p:spPr>
      </p:sp>
      <p:sp>
        <p:nvSpPr>
          <p:cNvPr id="12" name="Text 10"/>
          <p:cNvSpPr/>
          <p:nvPr/>
        </p:nvSpPr>
        <p:spPr>
          <a:xfrm>
            <a:off x="1438275" y="6087368"/>
            <a:ext cx="596953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Стандартные рабочие ситуации: благодарность, повышение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28725" y="6963668"/>
            <a:ext cx="95250" cy="95250"/>
          </a:xfrm>
          <a:prstGeom prst="ellipse">
            <a:avLst/>
          </a:prstGeom>
          <a:solidFill>
            <a:srgbClr val="C8860A"/>
          </a:solidFill>
          <a:ln/>
        </p:spPr>
      </p:sp>
      <p:sp>
        <p:nvSpPr>
          <p:cNvPr id="14" name="Text 12"/>
          <p:cNvSpPr/>
          <p:nvPr/>
        </p:nvSpPr>
        <p:spPr>
          <a:xfrm>
            <a:off x="1438275" y="6887468"/>
            <a:ext cx="596953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Свой повод — пользователь пишет любой текст в свободной форме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738765" y="3540621"/>
            <a:ext cx="4684068" cy="4701183"/>
          </a:xfrm>
          <a:prstGeom prst="roundRect">
            <a:avLst>
              <a:gd name="adj" fmla="val 4880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blurRad="114300" dist="19050" dir="5400000" algn="bl" rotWithShape="0">
              <a:srgbClr val="003F87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14990" y="3988296"/>
            <a:ext cx="425556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Персонализация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8014990" y="4388346"/>
            <a:ext cx="4255566" cy="1100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Поздравление учитывает конкретного человека, а не отправляется «в никуда»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014990" y="5717679"/>
            <a:ext cx="95250" cy="95250"/>
          </a:xfrm>
          <a:prstGeom prst="ellipse">
            <a:avLst/>
          </a:prstGeom>
          <a:solidFill>
            <a:srgbClr val="003F87"/>
          </a:solidFill>
          <a:ln/>
        </p:spPr>
      </p:sp>
      <p:sp>
        <p:nvSpPr>
          <p:cNvPr id="19" name="Text 17"/>
          <p:cNvSpPr/>
          <p:nvPr/>
        </p:nvSpPr>
        <p:spPr>
          <a:xfrm>
            <a:off x="8224540" y="5641479"/>
            <a:ext cx="403973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Имя получателя, обращение, подпись отправителя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014990" y="6517779"/>
            <a:ext cx="95250" cy="95250"/>
          </a:xfrm>
          <a:prstGeom prst="ellipse">
            <a:avLst/>
          </a:prstGeom>
          <a:solidFill>
            <a:srgbClr val="00864E"/>
          </a:solidFill>
          <a:ln/>
        </p:spPr>
      </p:sp>
      <p:sp>
        <p:nvSpPr>
          <p:cNvPr id="21" name="Text 19"/>
          <p:cNvSpPr/>
          <p:nvPr/>
        </p:nvSpPr>
        <p:spPr>
          <a:xfrm>
            <a:off x="8224540" y="6441579"/>
            <a:ext cx="403973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Личное пожелание дополняет AI-текст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014990" y="7317879"/>
            <a:ext cx="95250" cy="95250"/>
          </a:xfrm>
          <a:prstGeom prst="ellipse">
            <a:avLst/>
          </a:prstGeom>
          <a:solidFill>
            <a:srgbClr val="C8860A"/>
          </a:solidFill>
          <a:ln/>
        </p:spPr>
      </p:sp>
      <p:sp>
        <p:nvSpPr>
          <p:cNvPr id="23" name="Text 21"/>
          <p:cNvSpPr/>
          <p:nvPr/>
        </p:nvSpPr>
        <p:spPr>
          <a:xfrm>
            <a:off x="8224540" y="7241679"/>
            <a:ext cx="403973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Уже реализовано через ввод данных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2651432" y="3540621"/>
            <a:ext cx="4683919" cy="4701183"/>
          </a:xfrm>
          <a:prstGeom prst="roundRect">
            <a:avLst>
              <a:gd name="adj" fmla="val 4881"/>
            </a:avLst>
          </a:prstGeom>
          <a:solidFill>
            <a:srgbClr val="FAF5FF"/>
          </a:solidFill>
          <a:ln w="9525">
            <a:solidFill>
              <a:srgbClr val="7C3AED">
                <a:alpha val="20000"/>
              </a:srgbClr>
            </a:solidFill>
            <a:prstDash val="solid"/>
          </a:ln>
          <a:effectLst>
            <a:outerShdw blurRad="114300" dist="19050" dir="5400000" algn="bl" rotWithShape="0">
              <a:srgbClr val="003F87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5449699" y="3721596"/>
            <a:ext cx="1704677" cy="400050"/>
          </a:xfrm>
          <a:prstGeom prst="roundRect">
            <a:avLst>
              <a:gd name="adj" fmla="val 50000"/>
            </a:avLst>
          </a:prstGeom>
          <a:solidFill>
            <a:srgbClr val="7C3AED">
              <a:alpha val="12000"/>
            </a:srgbClr>
          </a:solidFill>
          <a:ln w="9525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592574" y="3769221"/>
            <a:ext cx="149512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C3AE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🚀 Roadmap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927657" y="4331196"/>
            <a:ext cx="42554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 с HR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2927657" y="4731246"/>
            <a:ext cx="4255413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Следующий шаг — бот знает о сотрудниках всё, что нужно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2927657" y="5706368"/>
            <a:ext cx="95250" cy="9525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13137207" y="5630168"/>
            <a:ext cx="403957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Профили сотрудников из HR-системы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2927657" y="6506468"/>
            <a:ext cx="95250" cy="9525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13137207" y="6430268"/>
            <a:ext cx="403957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Календарь дней рождений автоматически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2927657" y="7306568"/>
            <a:ext cx="95250" cy="9525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13137207" y="7230368"/>
            <a:ext cx="403957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Корпоративные праздники — без ручного ввода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6930539" y="9629775"/>
            <a:ext cx="93836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03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13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52500" y="116681"/>
            <a:ext cx="16383000" cy="400050"/>
          </a:xfrm>
          <a:prstGeom prst="roundRect">
            <a:avLst>
              <a:gd name="adj" fmla="val 50000"/>
            </a:avLst>
          </a:prstGeom>
          <a:solidFill>
            <a:srgbClr val="E6F4EE"/>
          </a:solidFill>
          <a:ln w="9525">
            <a:solidFill>
              <a:srgbClr val="00864E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3475" y="183356"/>
            <a:ext cx="165125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00864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UX · ДЕМО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631031"/>
            <a:ext cx="1687449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Диалог, который </a:t>
            </a:r>
            <a:r>
              <a:rPr lang="en-US" sz="3300" b="1" dirty="0">
                <a:solidFill>
                  <a:srgbClr val="003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требует инструкции</a:t>
            </a:r>
            <a:endParaRPr lang="en-US" sz="3300" dirty="0"/>
          </a:p>
        </p:txBody>
      </p:sp>
      <p:sp>
        <p:nvSpPr>
          <p:cNvPr id="49" name="Text 47"/>
          <p:cNvSpPr/>
          <p:nvPr/>
        </p:nvSpPr>
        <p:spPr>
          <a:xfrm>
            <a:off x="16992600" y="9629775"/>
            <a:ext cx="8763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03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13</a:t>
            </a:r>
            <a:endParaRPr lang="en-US" sz="18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040" b="20385"/>
          <a:stretch/>
        </p:blipFill>
        <p:spPr>
          <a:xfrm>
            <a:off x="952500" y="2204867"/>
            <a:ext cx="4644152" cy="4885900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643" b="17051"/>
          <a:stretch/>
        </p:blipFill>
        <p:spPr>
          <a:xfrm>
            <a:off x="6663381" y="2204867"/>
            <a:ext cx="4644152" cy="3350036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684" r="7134" b="18767"/>
          <a:stretch/>
        </p:blipFill>
        <p:spPr>
          <a:xfrm>
            <a:off x="12519405" y="2204867"/>
            <a:ext cx="4312834" cy="407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283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9629775"/>
            <a:ext cx="170095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</a:t>
            </a:r>
            <a:r>
              <a:rPr lang="en-US" sz="1800" b="1" kern="0" spc="108" dirty="0">
                <a:solidFill>
                  <a:srgbClr val="003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52500" y="1762274"/>
            <a:ext cx="16383000" cy="400050"/>
          </a:xfrm>
          <a:prstGeom prst="roundRect">
            <a:avLst>
              <a:gd name="adj" fmla="val 50000"/>
            </a:avLst>
          </a:prstGeom>
          <a:solidFill>
            <a:srgbClr val="E8EFF9"/>
          </a:solidFill>
          <a:ln w="9525">
            <a:solidFill>
              <a:srgbClr val="1A5FAD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3475" y="1828949"/>
            <a:ext cx="165125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1A5FA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СВЕРХ ТРЕБОВАНИЙ · КОРПОРАТИВНАЯ ДНК В КАЖДОМ ПОЗДРАВЛЕНИИ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2314724"/>
            <a:ext cx="1687449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one </a:t>
            </a:r>
            <a:r>
              <a:rPr lang="en-US" sz="5400" b="1" dirty="0">
                <a:solidFill>
                  <a:srgbClr val="003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thing!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52500" y="3057674"/>
            <a:ext cx="1687449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Поздравления транслируют миссию Команды Казани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52500" y="3838724"/>
            <a:ext cx="8039100" cy="2163812"/>
          </a:xfrm>
          <a:prstGeom prst="roundRect">
            <a:avLst>
              <a:gd name="adj" fmla="val 8804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blurRad="114300" dist="19050" dir="5400000" algn="bl" rotWithShape="0">
              <a:srgbClr val="003F87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66825" y="4229249"/>
            <a:ext cx="76327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Ценности внутри каждого поздравления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66825" y="4629299"/>
            <a:ext cx="7632763" cy="1135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В системный промпт встроены ключевые ценности и принципы Команды Казани — каждое поздравление автоматически отражает корпоративную культуру организации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2500" y="6193036"/>
            <a:ext cx="8039100" cy="2331541"/>
          </a:xfrm>
          <a:prstGeom prst="roundRect">
            <a:avLst>
              <a:gd name="adj" fmla="val 8171"/>
            </a:avLst>
          </a:prstGeom>
          <a:solidFill>
            <a:srgbClr val="003F87"/>
          </a:solidFill>
          <a:ln/>
        </p:spPr>
      </p:sp>
      <p:sp>
        <p:nvSpPr>
          <p:cNvPr id="11" name="Text 9"/>
          <p:cNvSpPr/>
          <p:nvPr/>
        </p:nvSpPr>
        <p:spPr>
          <a:xfrm>
            <a:off x="1257300" y="6459736"/>
            <a:ext cx="765238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создаём город, в котором хочется жить, работать и мечтать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57300" y="7526536"/>
            <a:ext cx="7652385" cy="769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FFFFFF">
                    <a:alpha val="7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Эта миссия звучит в каждом поздравлении — от любого сотрудника, в любой ситуации, автоматически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296400" y="3900339"/>
            <a:ext cx="8039100" cy="1419225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3F87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296400" y="5310039"/>
            <a:ext cx="8039100" cy="952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15" name="Shape 13"/>
          <p:cNvSpPr/>
          <p:nvPr/>
        </p:nvSpPr>
        <p:spPr>
          <a:xfrm>
            <a:off x="9296400" y="3900339"/>
            <a:ext cx="8039100" cy="952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16" name="Shape 14"/>
          <p:cNvSpPr/>
          <p:nvPr/>
        </p:nvSpPr>
        <p:spPr>
          <a:xfrm>
            <a:off x="9296400" y="3900339"/>
            <a:ext cx="38100" cy="1419225"/>
          </a:xfrm>
          <a:prstGeom prst="rect">
            <a:avLst/>
          </a:prstGeom>
          <a:solidFill>
            <a:srgbClr val="003F87"/>
          </a:solidFill>
          <a:ln/>
        </p:spPr>
      </p:sp>
      <p:sp>
        <p:nvSpPr>
          <p:cNvPr id="17" name="Shape 15"/>
          <p:cNvSpPr/>
          <p:nvPr/>
        </p:nvSpPr>
        <p:spPr>
          <a:xfrm>
            <a:off x="17325975" y="3900339"/>
            <a:ext cx="9525" cy="141922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18" name="Text 16"/>
          <p:cNvSpPr/>
          <p:nvPr/>
        </p:nvSpPr>
        <p:spPr>
          <a:xfrm>
            <a:off x="9563100" y="4100364"/>
            <a:ext cx="776030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Единый голос организации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563100" y="4433739"/>
            <a:ext cx="776030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Все поздравления от любого сотрудника звучат в одном стиле и соответствуют бренду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296400" y="5471964"/>
            <a:ext cx="8039100" cy="1419225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3F87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96400" y="6881664"/>
            <a:ext cx="8039100" cy="952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22" name="Shape 20"/>
          <p:cNvSpPr/>
          <p:nvPr/>
        </p:nvSpPr>
        <p:spPr>
          <a:xfrm>
            <a:off x="9296400" y="5471964"/>
            <a:ext cx="8039100" cy="952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23" name="Shape 21"/>
          <p:cNvSpPr/>
          <p:nvPr/>
        </p:nvSpPr>
        <p:spPr>
          <a:xfrm>
            <a:off x="9296400" y="5471964"/>
            <a:ext cx="38100" cy="1419225"/>
          </a:xfrm>
          <a:prstGeom prst="rect">
            <a:avLst/>
          </a:prstGeom>
          <a:solidFill>
            <a:srgbClr val="00864E"/>
          </a:solidFill>
          <a:ln/>
        </p:spPr>
      </p:sp>
      <p:sp>
        <p:nvSpPr>
          <p:cNvPr id="24" name="Shape 22"/>
          <p:cNvSpPr/>
          <p:nvPr/>
        </p:nvSpPr>
        <p:spPr>
          <a:xfrm>
            <a:off x="17325975" y="5471964"/>
            <a:ext cx="9525" cy="141922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25" name="Text 23"/>
          <p:cNvSpPr/>
          <p:nvPr/>
        </p:nvSpPr>
        <p:spPr>
          <a:xfrm>
            <a:off x="9563100" y="5671989"/>
            <a:ext cx="776030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Трансляция миссии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563100" y="6005364"/>
            <a:ext cx="776030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Забота, профессионализм, человечность — в каждом тексте автоматически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296400" y="7043589"/>
            <a:ext cx="8039100" cy="1419225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3F87">
                <a:alpha val="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296400" y="8453289"/>
            <a:ext cx="8039100" cy="952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29" name="Shape 27"/>
          <p:cNvSpPr/>
          <p:nvPr/>
        </p:nvSpPr>
        <p:spPr>
          <a:xfrm>
            <a:off x="9296400" y="7043589"/>
            <a:ext cx="8039100" cy="952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30" name="Shape 28"/>
          <p:cNvSpPr/>
          <p:nvPr/>
        </p:nvSpPr>
        <p:spPr>
          <a:xfrm>
            <a:off x="9296400" y="7043589"/>
            <a:ext cx="38100" cy="1419225"/>
          </a:xfrm>
          <a:prstGeom prst="rect">
            <a:avLst/>
          </a:prstGeom>
          <a:solidFill>
            <a:srgbClr val="C8860A"/>
          </a:solidFill>
          <a:ln/>
        </p:spPr>
      </p:sp>
      <p:sp>
        <p:nvSpPr>
          <p:cNvPr id="31" name="Shape 29"/>
          <p:cNvSpPr/>
          <p:nvPr/>
        </p:nvSpPr>
        <p:spPr>
          <a:xfrm>
            <a:off x="17325975" y="7043589"/>
            <a:ext cx="9525" cy="141922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32" name="Text 30"/>
          <p:cNvSpPr/>
          <p:nvPr/>
        </p:nvSpPr>
        <p:spPr>
          <a:xfrm>
            <a:off x="9563100" y="7243614"/>
            <a:ext cx="776030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Укрепление HR-бренда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563100" y="7576989"/>
            <a:ext cx="776030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Поздравления становятся инструментом внутреннего брендинга, а не просто формальностью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6936343" y="9629775"/>
            <a:ext cx="93255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03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13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52500" y="116681"/>
            <a:ext cx="16383000" cy="400050"/>
          </a:xfrm>
          <a:prstGeom prst="roundRect">
            <a:avLst>
              <a:gd name="adj" fmla="val 50000"/>
            </a:avLst>
          </a:prstGeom>
          <a:solidFill>
            <a:srgbClr val="E6F4EE"/>
          </a:solidFill>
          <a:ln w="9525">
            <a:solidFill>
              <a:srgbClr val="00864E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3475" y="183356"/>
            <a:ext cx="165125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00864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UX · ДЕМО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631031"/>
            <a:ext cx="1687449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Диалог, который </a:t>
            </a:r>
            <a:r>
              <a:rPr lang="en-US" sz="3300" b="1" dirty="0">
                <a:solidFill>
                  <a:srgbClr val="003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требует инструкции</a:t>
            </a:r>
            <a:endParaRPr lang="en-US" sz="3300" dirty="0"/>
          </a:p>
        </p:txBody>
      </p:sp>
      <p:sp>
        <p:nvSpPr>
          <p:cNvPr id="49" name="Text 47"/>
          <p:cNvSpPr/>
          <p:nvPr/>
        </p:nvSpPr>
        <p:spPr>
          <a:xfrm>
            <a:off x="16992600" y="9629775"/>
            <a:ext cx="8763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03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13</a:t>
            </a:r>
            <a:endParaRPr lang="en-US" sz="18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8" t="21121" r="-938" b="10971"/>
          <a:stretch/>
        </p:blipFill>
        <p:spPr>
          <a:xfrm>
            <a:off x="3149810" y="1600834"/>
            <a:ext cx="4644152" cy="683039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220" b="10327"/>
          <a:stretch/>
        </p:blipFill>
        <p:spPr>
          <a:xfrm>
            <a:off x="9701405" y="1600834"/>
            <a:ext cx="4644152" cy="326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655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9629775"/>
            <a:ext cx="170095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</a:t>
            </a:r>
            <a:r>
              <a:rPr lang="en-US" sz="1800" b="1" kern="0" spc="108" dirty="0">
                <a:solidFill>
                  <a:srgbClr val="003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52500" y="2166045"/>
            <a:ext cx="16383000" cy="400050"/>
          </a:xfrm>
          <a:prstGeom prst="roundRect">
            <a:avLst>
              <a:gd name="adj" fmla="val 50000"/>
            </a:avLst>
          </a:prstGeom>
          <a:solidFill>
            <a:srgbClr val="E8EFF9"/>
          </a:solidFill>
          <a:ln w="9525">
            <a:solidFill>
              <a:srgbClr val="003F87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3475" y="2232720"/>
            <a:ext cx="165125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003F8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ЭФФЕКТ ОТ ВНЕДРЕНИЯ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2756595"/>
            <a:ext cx="1687449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Измеримая </a:t>
            </a:r>
            <a:r>
              <a:rPr lang="en-US" sz="4050" b="1" dirty="0">
                <a:solidFill>
                  <a:srgbClr val="0086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польза для бизнеса</a:t>
            </a:r>
            <a:endParaRPr lang="en-US" sz="4050" dirty="0"/>
          </a:p>
        </p:txBody>
      </p:sp>
      <p:sp>
        <p:nvSpPr>
          <p:cNvPr id="6" name="Shape 4"/>
          <p:cNvSpPr/>
          <p:nvPr/>
        </p:nvSpPr>
        <p:spPr>
          <a:xfrm>
            <a:off x="952500" y="3804345"/>
            <a:ext cx="3952875" cy="1763911"/>
          </a:xfrm>
          <a:prstGeom prst="roundRect">
            <a:avLst>
              <a:gd name="adj" fmla="val 10800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blurRad="76200" dist="19050" dir="5400000" algn="bl" rotWithShape="0">
              <a:srgbClr val="003F87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9233" y="4080570"/>
            <a:ext cx="365941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003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1099233" y="4652070"/>
            <a:ext cx="365941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сокращение времени на создание поздравления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95875" y="3804345"/>
            <a:ext cx="3952875" cy="1763911"/>
          </a:xfrm>
          <a:prstGeom prst="roundRect">
            <a:avLst>
              <a:gd name="adj" fmla="val 10800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blurRad="76200" dist="19050" dir="5400000" algn="bl" rotWithShape="0">
              <a:srgbClr val="003F87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242608" y="4080570"/>
            <a:ext cx="365941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0086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мин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5242608" y="4652070"/>
            <a:ext cx="365941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от /start до отправки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239250" y="3804345"/>
            <a:ext cx="3952875" cy="1763911"/>
          </a:xfrm>
          <a:prstGeom prst="roundRect">
            <a:avLst>
              <a:gd name="adj" fmla="val 10800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blurRad="76200" dist="19050" dir="5400000" algn="bl" rotWithShape="0">
              <a:srgbClr val="003F87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385983" y="4080570"/>
            <a:ext cx="365941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003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9385983" y="4652070"/>
            <a:ext cx="365941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уникальных вариантов текста и открыток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382625" y="3804345"/>
            <a:ext cx="3952875" cy="1763911"/>
          </a:xfrm>
          <a:prstGeom prst="roundRect">
            <a:avLst>
              <a:gd name="adj" fmla="val 10800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blurRad="76200" dist="19050" dir="5400000" algn="bl" rotWithShape="0">
              <a:srgbClr val="003F87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3529358" y="4080570"/>
            <a:ext cx="365941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C88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2+</a:t>
            </a:r>
            <a:endParaRPr lang="en-US" sz="3900" dirty="0"/>
          </a:p>
        </p:txBody>
      </p:sp>
      <p:sp>
        <p:nvSpPr>
          <p:cNvPr id="17" name="Text 15"/>
          <p:cNvSpPr/>
          <p:nvPr/>
        </p:nvSpPr>
        <p:spPr>
          <a:xfrm>
            <a:off x="13529358" y="4652070"/>
            <a:ext cx="365941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канала доставки из одного места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5834955"/>
            <a:ext cx="8096250" cy="104775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blurRad="38100" dist="9525" dir="5400000" algn="bl" rotWithShape="0">
              <a:srgbClr val="003F87">
                <a:alpha val="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71575" y="6015930"/>
            <a:ext cx="44246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1182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💼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671191" y="6015930"/>
            <a:ext cx="737323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Снижение рутины </a:t>
            </a:r>
            <a:r>
              <a:rPr lang="en-US" sz="180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сотрудники освобождают время от однообразной задачи и направляют его на основную работу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239250" y="5834955"/>
            <a:ext cx="8096250" cy="104775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blurRad="38100" dist="9525" dir="5400000" algn="bl" rotWithShape="0">
              <a:srgbClr val="003F87">
                <a:alpha val="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458325" y="6015930"/>
            <a:ext cx="44246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1182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❤️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957941" y="6015930"/>
            <a:ext cx="737323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Рост вовлечённости </a:t>
            </a:r>
            <a:r>
              <a:rPr lang="en-US" sz="180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персональные, уникальные поздравления укрепляют корпоративную культуру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286375" y="7063680"/>
            <a:ext cx="8096250" cy="104775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blurRad="38100" dist="9525" dir="5400000" algn="bl" rotWithShape="0">
              <a:srgbClr val="003F87">
                <a:alpha val="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505450" y="7260576"/>
            <a:ext cx="42386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1182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📈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5986463" y="7260576"/>
            <a:ext cx="73924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Масштабируемость </a:t>
            </a:r>
            <a:r>
              <a:rPr lang="en-US" sz="180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легко добавить новые поводы, стили, каналы и интеграции без переработки архитектуры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7059275" y="9629775"/>
            <a:ext cx="8096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03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13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629775"/>
            <a:ext cx="170095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kern="0" spc="108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</a:t>
            </a:r>
            <a:r>
              <a:rPr lang="en-US" sz="1800" b="1" kern="0" spc="108" dirty="0">
                <a:solidFill>
                  <a:srgbClr val="003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8348067" y="1379190"/>
            <a:ext cx="1591866" cy="400050"/>
          </a:xfrm>
          <a:prstGeom prst="roundRect">
            <a:avLst>
              <a:gd name="adj" fmla="val 50000"/>
            </a:avLst>
          </a:prstGeom>
          <a:solidFill>
            <a:srgbClr val="E8EFF9"/>
          </a:solidFill>
          <a:ln w="9525">
            <a:solidFill>
              <a:srgbClr val="003F87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90942" y="1445865"/>
            <a:ext cx="13061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kern="0" spc="72" dirty="0">
                <a:solidFill>
                  <a:srgbClr val="003F8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КОМАНДА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282566" y="1931640"/>
            <a:ext cx="372272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4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</a:t>
            </a:r>
            <a:r>
              <a:rPr lang="en-US" sz="4350" b="1" dirty="0">
                <a:solidFill>
                  <a:srgbClr val="003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</a:t>
            </a:r>
            <a:endParaRPr lang="en-US" sz="4350" dirty="0"/>
          </a:p>
        </p:txBody>
      </p:sp>
      <p:sp>
        <p:nvSpPr>
          <p:cNvPr id="6" name="Shape 4"/>
          <p:cNvSpPr/>
          <p:nvPr/>
        </p:nvSpPr>
        <p:spPr>
          <a:xfrm>
            <a:off x="3695700" y="3103215"/>
            <a:ext cx="3429000" cy="5347246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blurRad="190500" dist="38100" dir="5400000" algn="bl" rotWithShape="0">
              <a:srgbClr val="003F87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67200" y="3646140"/>
            <a:ext cx="2286000" cy="2286000"/>
          </a:xfrm>
          <a:prstGeom prst="ellipse">
            <a:avLst/>
          </a:prstGeom>
          <a:ln w="38100">
            <a:solidFill>
              <a:srgbClr val="003F87">
                <a:alpha val="15000"/>
              </a:srgbClr>
            </a:solidFill>
            <a:prstDash val="solid"/>
          </a:ln>
          <a:effectLst>
            <a:outerShdw blurRad="152400" dist="38100" dir="5400000" algn="bl" rotWithShape="0">
              <a:srgbClr val="003F87">
                <a:alpha val="12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05300" y="3608040"/>
            <a:ext cx="2286000" cy="2286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62425" y="6160740"/>
            <a:ext cx="24955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Гульнур Баймуратова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4162425" y="6941790"/>
            <a:ext cx="249555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9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Бизнес-аналитика</a:t>
            </a:r>
            <a:endParaRPr lang="en-US" sz="1950" dirty="0"/>
          </a:p>
        </p:txBody>
      </p:sp>
      <p:sp>
        <p:nvSpPr>
          <p:cNvPr id="11" name="Shape 8"/>
          <p:cNvSpPr/>
          <p:nvPr/>
        </p:nvSpPr>
        <p:spPr>
          <a:xfrm>
            <a:off x="4633168" y="7440811"/>
            <a:ext cx="1554063" cy="466725"/>
          </a:xfrm>
          <a:prstGeom prst="roundRect">
            <a:avLst>
              <a:gd name="adj" fmla="val 50000"/>
            </a:avLst>
          </a:prstGeom>
          <a:solidFill>
            <a:srgbClr val="E8EFF9"/>
          </a:solidFill>
          <a:ln w="9525">
            <a:solidFill>
              <a:srgbClr val="003F87">
                <a:alpha val="2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95093" y="7526536"/>
            <a:ext cx="12302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003F8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Школа 21</a:t>
            </a:r>
            <a:endParaRPr lang="en-US" sz="1950" dirty="0"/>
          </a:p>
        </p:txBody>
      </p:sp>
      <p:sp>
        <p:nvSpPr>
          <p:cNvPr id="13" name="Shape 10"/>
          <p:cNvSpPr/>
          <p:nvPr/>
        </p:nvSpPr>
        <p:spPr>
          <a:xfrm>
            <a:off x="7429500" y="3103215"/>
            <a:ext cx="3429000" cy="5347246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blurRad="190500" dist="38100" dir="5400000" algn="bl" rotWithShape="0">
              <a:srgbClr val="003F87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001000" y="3646140"/>
            <a:ext cx="2286000" cy="2286000"/>
          </a:xfrm>
          <a:prstGeom prst="ellipse">
            <a:avLst/>
          </a:prstGeom>
          <a:ln w="38100">
            <a:solidFill>
              <a:srgbClr val="003F87">
                <a:alpha val="15000"/>
              </a:srgbClr>
            </a:solidFill>
            <a:prstDash val="solid"/>
          </a:ln>
          <a:effectLst>
            <a:outerShdw blurRad="152400" dist="38100" dir="5400000" algn="bl" rotWithShape="0">
              <a:srgbClr val="003F87">
                <a:alpha val="12000"/>
              </a:srgbClr>
            </a:outerShdw>
          </a:effectLst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39100" y="3684240"/>
            <a:ext cx="2209800" cy="22098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896225" y="6160740"/>
            <a:ext cx="24955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Екатерина Бурнаева</a:t>
            </a:r>
            <a:endParaRPr lang="en-US" sz="2250" dirty="0"/>
          </a:p>
        </p:txBody>
      </p:sp>
      <p:sp>
        <p:nvSpPr>
          <p:cNvPr id="17" name="Text 13"/>
          <p:cNvSpPr/>
          <p:nvPr/>
        </p:nvSpPr>
        <p:spPr>
          <a:xfrm>
            <a:off x="7896225" y="6941790"/>
            <a:ext cx="249555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9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Бизнес-аналитика</a:t>
            </a:r>
            <a:endParaRPr lang="en-US" sz="1950" dirty="0"/>
          </a:p>
        </p:txBody>
      </p:sp>
      <p:sp>
        <p:nvSpPr>
          <p:cNvPr id="18" name="Shape 14"/>
          <p:cNvSpPr/>
          <p:nvPr/>
        </p:nvSpPr>
        <p:spPr>
          <a:xfrm>
            <a:off x="8366968" y="7440811"/>
            <a:ext cx="1554063" cy="466725"/>
          </a:xfrm>
          <a:prstGeom prst="roundRect">
            <a:avLst>
              <a:gd name="adj" fmla="val 50000"/>
            </a:avLst>
          </a:prstGeom>
          <a:solidFill>
            <a:srgbClr val="E8EFF9"/>
          </a:solidFill>
          <a:ln w="9525">
            <a:solidFill>
              <a:srgbClr val="003F87">
                <a:alpha val="2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528893" y="7526536"/>
            <a:ext cx="12302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003F8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Школа 21</a:t>
            </a:r>
            <a:endParaRPr lang="en-US" sz="1950" dirty="0"/>
          </a:p>
        </p:txBody>
      </p:sp>
      <p:sp>
        <p:nvSpPr>
          <p:cNvPr id="20" name="Shape 16"/>
          <p:cNvSpPr/>
          <p:nvPr/>
        </p:nvSpPr>
        <p:spPr>
          <a:xfrm>
            <a:off x="11163300" y="3103215"/>
            <a:ext cx="3429000" cy="5347246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blurRad="190500" dist="38100" dir="5400000" algn="bl" rotWithShape="0">
              <a:srgbClr val="003F87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11734800" y="3646140"/>
            <a:ext cx="2286000" cy="2286000"/>
          </a:xfrm>
          <a:prstGeom prst="ellipse">
            <a:avLst/>
          </a:prstGeom>
          <a:ln w="38100">
            <a:solidFill>
              <a:srgbClr val="003F87">
                <a:alpha val="15000"/>
              </a:srgbClr>
            </a:solidFill>
            <a:prstDash val="solid"/>
          </a:ln>
          <a:effectLst>
            <a:outerShdw blurRad="152400" dist="38100" dir="5400000" algn="bl" rotWithShape="0">
              <a:srgbClr val="003F87">
                <a:alpha val="12000"/>
              </a:srgbClr>
            </a:outerShdw>
          </a:effectLst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772900" y="3684240"/>
            <a:ext cx="2209800" cy="22098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630025" y="6160740"/>
            <a:ext cx="24955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Ксения Суханова</a:t>
            </a:r>
            <a:endParaRPr lang="en-US" sz="2250" dirty="0"/>
          </a:p>
        </p:txBody>
      </p:sp>
      <p:sp>
        <p:nvSpPr>
          <p:cNvPr id="24" name="Text 19"/>
          <p:cNvSpPr/>
          <p:nvPr/>
        </p:nvSpPr>
        <p:spPr>
          <a:xfrm>
            <a:off x="11630025" y="6941790"/>
            <a:ext cx="249555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950" dirty="0">
                <a:solidFill>
                  <a:srgbClr val="6B72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Разработка</a:t>
            </a:r>
            <a:endParaRPr lang="en-US" sz="1950" dirty="0"/>
          </a:p>
        </p:txBody>
      </p:sp>
      <p:sp>
        <p:nvSpPr>
          <p:cNvPr id="25" name="Shape 20"/>
          <p:cNvSpPr/>
          <p:nvPr/>
        </p:nvSpPr>
        <p:spPr>
          <a:xfrm>
            <a:off x="12100768" y="7440811"/>
            <a:ext cx="1554063" cy="466725"/>
          </a:xfrm>
          <a:prstGeom prst="roundRect">
            <a:avLst>
              <a:gd name="adj" fmla="val 50000"/>
            </a:avLst>
          </a:prstGeom>
          <a:solidFill>
            <a:srgbClr val="E8EFF9"/>
          </a:solidFill>
          <a:ln w="9525">
            <a:solidFill>
              <a:srgbClr val="003F87">
                <a:alpha val="20000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12262693" y="7526536"/>
            <a:ext cx="12302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003F8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Школа 21</a:t>
            </a:r>
            <a:endParaRPr lang="en-US" sz="1950" dirty="0"/>
          </a:p>
        </p:txBody>
      </p:sp>
      <p:sp>
        <p:nvSpPr>
          <p:cNvPr id="27" name="Text 22"/>
          <p:cNvSpPr/>
          <p:nvPr/>
        </p:nvSpPr>
        <p:spPr>
          <a:xfrm>
            <a:off x="16975187" y="9629775"/>
            <a:ext cx="85561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800" b="1" kern="0" spc="144" dirty="0">
                <a:solidFill>
                  <a:srgbClr val="003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13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0963"/>
            <a:ext cx="18288000" cy="10287000"/>
          </a:xfrm>
          <a:prstGeom prst="rect">
            <a:avLst/>
          </a:prstGeom>
          <a:solidFill>
            <a:srgbClr val="003F87"/>
          </a:solidFill>
          <a:ln/>
        </p:spPr>
      </p:sp>
      <p:sp>
        <p:nvSpPr>
          <p:cNvPr id="3" name="Text 1"/>
          <p:cNvSpPr/>
          <p:nvPr/>
        </p:nvSpPr>
        <p:spPr>
          <a:xfrm>
            <a:off x="6251870" y="3526972"/>
            <a:ext cx="57800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kern="0" spc="36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ON THE VIBE · КЕЙС №3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313188" y="5224463"/>
            <a:ext cx="2701528" cy="1609725"/>
          </a:xfrm>
          <a:prstGeom prst="roundRect">
            <a:avLst>
              <a:gd name="adj" fmla="val 11834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0363" y="5462588"/>
            <a:ext cx="218717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💬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0363" y="5967413"/>
            <a:ext cx="218717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kern="0" spc="14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БОТ В MAX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0363" y="6319838"/>
            <a:ext cx="218717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@digitalhach_bot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205216" y="5224463"/>
            <a:ext cx="2693491" cy="1609725"/>
          </a:xfrm>
          <a:prstGeom prst="roundRect">
            <a:avLst>
              <a:gd name="adj" fmla="val 11834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62391" y="5462588"/>
            <a:ext cx="21791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💻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462391" y="5967413"/>
            <a:ext cx="217914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kern="0" spc="14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РЕПОЗИТОРИЙ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462391" y="6319838"/>
            <a:ext cx="217914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089207" y="5224463"/>
            <a:ext cx="3885456" cy="1609725"/>
          </a:xfrm>
          <a:prstGeom prst="roundRect">
            <a:avLst>
              <a:gd name="adj" fmla="val 11834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35059" y="5462588"/>
            <a:ext cx="339375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🏗️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0335059" y="5967413"/>
            <a:ext cx="339375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kern="0" spc="144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335059" y="6319838"/>
            <a:ext cx="339375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FastAPI · GigaChat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975187" y="9629775"/>
            <a:ext cx="85561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800" b="1" kern="0" spc="144" dirty="0">
                <a:solidFill>
                  <a:srgbClr val="003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13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1024</Words>
  <Application>Microsoft Office PowerPoint</Application>
  <PresentationFormat>Произвольный</PresentationFormat>
  <Paragraphs>191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-apple-system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9</cp:revision>
  <dcterms:created xsi:type="dcterms:W3CDTF">2026-04-24T11:57:53Z</dcterms:created>
  <dcterms:modified xsi:type="dcterms:W3CDTF">2026-04-24T13:12:33Z</dcterms:modified>
</cp:coreProperties>
</file>